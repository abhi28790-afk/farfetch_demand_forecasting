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829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457200" cy="5088636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Store-Item Demand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Forecasting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731520" y="2880360"/>
            <a:ext cx="109728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— FARFETCH Business Case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Abhishek Singh Bhadouria ·  6</a:t>
            </a:r>
            <a:r>
              <a:rPr lang="en-US" sz="1200" baseline="30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April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0" y="1280160"/>
            <a:ext cx="1920240" cy="411480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0" y="12801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Insights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0" y="1938528"/>
            <a:ext cx="1920240" cy="411480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0" y="193852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Forecasting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0" y="2596896"/>
            <a:ext cx="1920240" cy="411480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0" y="2596896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Outlook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0" y="3255264"/>
            <a:ext cx="1920240" cy="411480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0" y="3255264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Advisory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Interview Purposes Only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0" y="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19659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1965960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07899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DDDD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1572768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&amp; EDA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029968"/>
            <a:ext cx="365760" cy="274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2148840"/>
            <a:ext cx="16916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years of daily store-item sales. Identified annual spring peak, promo lift timing, and mid-week demand patterns from real chart analysis.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50592" y="960120"/>
            <a:ext cx="19659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450592" y="960120"/>
            <a:ext cx="1965960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587752" y="107899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DDDD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587752" y="1572768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587752" y="2029968"/>
            <a:ext cx="365760" cy="274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587752" y="2148840"/>
            <a:ext cx="16916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features (1, 7, 30, 365 days), rolling stats. shift(1) applied inside all rolling windows to prevent data leakage.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26864" y="960120"/>
            <a:ext cx="19659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26864" y="960120"/>
            <a:ext cx="1965960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64024" y="107899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DDDD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764024" y="1572768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XGBoost Model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64024" y="2029968"/>
            <a:ext cx="365760" cy="274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64024" y="2148840"/>
            <a:ext cx="16916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boosted trees. 5-fold walk-forward CV (TimeSeriesSplit). CV MAE: 2.57 ± 0.06 , stable across all folds, no overfitting.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03136" y="960120"/>
            <a:ext cx="19659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803136" y="960120"/>
            <a:ext cx="1965960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940296" y="107899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DDDD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940296" y="1572768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Output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940296" y="2029968"/>
            <a:ext cx="365760" cy="274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940296" y="2148840"/>
            <a:ext cx="16916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recursive forecast per store &amp; item. Per-item price elasticity. CFO-ready advisory with opportunities, risks, and next steps.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EDA Insights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0" y="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8595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64008" cy="1143000"/>
          </a:xfrm>
          <a:prstGeom prst="rect">
            <a:avLst/>
          </a:prstGeom>
          <a:solidFill>
            <a:srgbClr val="0D6B6B"/>
          </a:solidFill>
          <a:ln w="12700">
            <a:solidFill>
              <a:srgbClr val="0D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589520" y="1234440"/>
            <a:ext cx="1005840" cy="411480"/>
          </a:xfrm>
          <a:prstGeom prst="rect">
            <a:avLst/>
          </a:prstGeom>
          <a:solidFill>
            <a:srgbClr val="E6F3F3"/>
          </a:solidFill>
          <a:ln w="12700">
            <a:solidFill>
              <a:srgbClr val="0D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589520" y="12344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+5.9/day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005840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Insight 1  —  Upward Trend — ONE Annual Spring Peak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389888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annual peak per year around May-Jun, winter trough Jan-Feb. Each year's peak grows higher - avg daily growth +5.9 units/day. Finance must pre-position inventory for the spring cycle. No second autumn peak.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212848"/>
            <a:ext cx="8595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2212848"/>
            <a:ext cx="64008" cy="114300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589520" y="2532888"/>
            <a:ext cx="1005840" cy="411480"/>
          </a:xfrm>
          <a:prstGeom prst="rect">
            <a:avLst/>
          </a:prstGeom>
          <a:solidFill>
            <a:srgbClr val="E8F5EE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589520" y="253288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50.2% lift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2304288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Insight 2  —  Promo Timing Matters — Feb-May is the Window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2688336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50.2% avg sales lift. Gap WIDEST Feb-May (~17-18 units) - most cost-effective window. Gap NARROWEST Aug-Oct (~8-10 units) - summer promos are wasteful. Outliers at 140 units identify hyper-responsive items. Strategy: Feb-May budget concentration only.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511296"/>
            <a:ext cx="8595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4320" y="3511296"/>
            <a:ext cx="64008" cy="1143000"/>
          </a:xfrm>
          <a:prstGeom prst="rect">
            <a:avLst/>
          </a:prstGeom>
          <a:solidFill>
            <a:srgbClr val="8B4A00"/>
          </a:solidFill>
          <a:ln w="12700">
            <a:solidFill>
              <a:srgbClr val="8B4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589520" y="3831336"/>
            <a:ext cx="1005840" cy="411480"/>
          </a:xfrm>
          <a:prstGeom prst="rect">
            <a:avLst/>
          </a:prstGeom>
          <a:solidFill>
            <a:srgbClr val="FDF3E7"/>
          </a:solidFill>
          <a:ln w="12700">
            <a:solidFill>
              <a:srgbClr val="8B4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589520" y="3831336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Mar-Apr peak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3602736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Insight 3  —  Mid-Week Leads; Mar-Apr is Peak Month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3986784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~35 (peak), Tue ~34, Thu ~32. Weekend lowest: Sat ~23.5, Sun ~24.8. Monthly peak Mar-Apr (~37), trough Sep-Oct (~21) — 43% seasonal drop. Pre-position inventory by February. Sep-Oct optimal for lean inventory runs.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Performance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0" y="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2651760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02412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37360" y="15087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82880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18288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2.55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212848"/>
            <a:ext cx="2377440" cy="384048"/>
          </a:xfrm>
          <a:prstGeom prst="rect">
            <a:avLst/>
          </a:prstGeom>
          <a:solidFill>
            <a:srgbClr val="E8F5EE"/>
          </a:solidFill>
          <a:ln w="12700">
            <a:solidFill>
              <a:srgbClr val="B8DF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21284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61.9% improvement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72968" y="91440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172968" y="914400"/>
            <a:ext cx="2651760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10128" y="102412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RMSE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310128" y="15087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90288" y="15087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9.40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10128" y="182880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90288" y="18288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3.21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310128" y="2212848"/>
            <a:ext cx="2377440" cy="384048"/>
          </a:xfrm>
          <a:prstGeom prst="rect">
            <a:avLst/>
          </a:prstGeom>
          <a:solidFill>
            <a:srgbClr val="E8F5EE"/>
          </a:solidFill>
          <a:ln w="12700">
            <a:solidFill>
              <a:srgbClr val="B8DF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310128" y="221284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65.9% improvement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25896" y="91440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25896" y="914400"/>
            <a:ext cx="2651760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63056" y="102412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163056" y="15087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43216" y="15087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22.99%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63056" y="182880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43216" y="18288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10.89%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163056" y="2212848"/>
            <a:ext cx="2377440" cy="384048"/>
          </a:xfrm>
          <a:prstGeom prst="rect">
            <a:avLst/>
          </a:prstGeom>
          <a:solidFill>
            <a:srgbClr val="E8F5EE"/>
          </a:solidFill>
          <a:ln w="12700">
            <a:solidFill>
              <a:srgbClr val="B8DF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163056" y="221284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52.6% improvement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" y="3429000"/>
            <a:ext cx="8503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20040" y="3429000"/>
            <a:ext cx="64008" cy="1417320"/>
          </a:xfrm>
          <a:prstGeom prst="rect">
            <a:avLst/>
          </a:prstGeom>
          <a:solidFill>
            <a:srgbClr val="0D6B6B"/>
          </a:solidFill>
          <a:ln w="12700">
            <a:solidFill>
              <a:srgbClr val="0D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48640" y="3520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Validation &amp; Feature Importance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8640" y="3913632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Mean MAE: 2.57 ± 0.06  (5-fold </a:t>
            </a:r>
            <a:r>
              <a:rPr lang="en-US" sz="1050" dirty="0" err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TimeSeriesSplit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low variance, no overfitting)  ·  Top features by importance: lag_7 (#1 - weekly seasonality dominates)  ·  promo (#2 - confirms 50.2% lift)  ·  rolling_mean_7 (#3 - recent trajectory)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90-Day Forecast &amp; Price Elasticity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0" y="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1148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4114800" cy="54864"/>
          </a:xfrm>
          <a:prstGeom prst="rect">
            <a:avLst/>
          </a:prstGeom>
          <a:solidFill>
            <a:srgbClr val="0D6B6B"/>
          </a:solidFill>
          <a:ln w="12700">
            <a:solidFill>
              <a:srgbClr val="0D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02412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90-Day Forward Forecast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508760"/>
            <a:ext cx="3749040" cy="2286000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1480" y="2181758"/>
            <a:ext cx="257556" cy="1448410"/>
          </a:xfrm>
          <a:prstGeom prst="rect">
            <a:avLst/>
          </a:prstGeom>
          <a:solidFill>
            <a:srgbClr val="B0CDD4"/>
          </a:solidFill>
          <a:ln w="12700">
            <a:solidFill>
              <a:srgbClr val="B0C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23900" y="2262226"/>
            <a:ext cx="257556" cy="1367942"/>
          </a:xfrm>
          <a:prstGeom prst="rect">
            <a:avLst/>
          </a:prstGeom>
          <a:solidFill>
            <a:srgbClr val="B0CDD4"/>
          </a:solidFill>
          <a:ln w="12700">
            <a:solidFill>
              <a:srgbClr val="B0C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36320" y="2061058"/>
            <a:ext cx="257556" cy="1569110"/>
          </a:xfrm>
          <a:prstGeom prst="rect">
            <a:avLst/>
          </a:prstGeom>
          <a:solidFill>
            <a:srgbClr val="B0CDD4"/>
          </a:solidFill>
          <a:ln w="12700">
            <a:solidFill>
              <a:srgbClr val="B0C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348740" y="1920240"/>
            <a:ext cx="257556" cy="1709928"/>
          </a:xfrm>
          <a:prstGeom prst="rect">
            <a:avLst/>
          </a:prstGeom>
          <a:solidFill>
            <a:srgbClr val="0D6B6B"/>
          </a:solidFill>
          <a:ln w="12700">
            <a:solidFill>
              <a:srgbClr val="0D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661160" y="1799539"/>
            <a:ext cx="257556" cy="1830629"/>
          </a:xfrm>
          <a:prstGeom prst="rect">
            <a:avLst/>
          </a:prstGeom>
          <a:solidFill>
            <a:srgbClr val="0D6B6B"/>
          </a:solidFill>
          <a:ln w="12700">
            <a:solidFill>
              <a:srgbClr val="0D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973580" y="1859890"/>
            <a:ext cx="257556" cy="1770278"/>
          </a:xfrm>
          <a:prstGeom prst="rect">
            <a:avLst/>
          </a:prstGeom>
          <a:solidFill>
            <a:srgbClr val="0D6B6B"/>
          </a:solidFill>
          <a:ln w="12700">
            <a:solidFill>
              <a:srgbClr val="0D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286000" y="1980590"/>
            <a:ext cx="257556" cy="1649578"/>
          </a:xfrm>
          <a:prstGeom prst="rect">
            <a:avLst/>
          </a:prstGeom>
          <a:solidFill>
            <a:srgbClr val="B0CDD4"/>
          </a:solidFill>
          <a:ln w="12700">
            <a:solidFill>
              <a:srgbClr val="B0C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598420" y="2141525"/>
            <a:ext cx="257556" cy="1488643"/>
          </a:xfrm>
          <a:prstGeom prst="rect">
            <a:avLst/>
          </a:prstGeom>
          <a:solidFill>
            <a:srgbClr val="B0CDD4"/>
          </a:solidFill>
          <a:ln w="12700">
            <a:solidFill>
              <a:srgbClr val="B0C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910840" y="2221992"/>
            <a:ext cx="257556" cy="1408176"/>
          </a:xfrm>
          <a:prstGeom prst="rect">
            <a:avLst/>
          </a:prstGeom>
          <a:solidFill>
            <a:srgbClr val="B0CDD4"/>
          </a:solidFill>
          <a:ln w="12700">
            <a:solidFill>
              <a:srgbClr val="B0C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23260" y="2262226"/>
            <a:ext cx="257556" cy="1367942"/>
          </a:xfrm>
          <a:prstGeom prst="rect">
            <a:avLst/>
          </a:prstGeom>
          <a:solidFill>
            <a:srgbClr val="B0CDD4"/>
          </a:solidFill>
          <a:ln w="12700">
            <a:solidFill>
              <a:srgbClr val="B0C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535680" y="2322576"/>
            <a:ext cx="257556" cy="1307592"/>
          </a:xfrm>
          <a:prstGeom prst="rect">
            <a:avLst/>
          </a:prstGeom>
          <a:solidFill>
            <a:srgbClr val="B0CDD4"/>
          </a:solidFill>
          <a:ln w="12700">
            <a:solidFill>
              <a:srgbClr val="B0C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848100" y="2362810"/>
            <a:ext cx="257556" cy="1267358"/>
          </a:xfrm>
          <a:prstGeom prst="rect">
            <a:avLst/>
          </a:prstGeom>
          <a:solidFill>
            <a:srgbClr val="B0CDD4"/>
          </a:solidFill>
          <a:ln w="12700">
            <a:solidFill>
              <a:srgbClr val="B0C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371600" y="15361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peak approaching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397764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horizon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514600" y="397764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days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17880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514600" y="4178808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multi-step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379976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forecast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514600" y="437997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7,618,911 units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581144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forecast day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514600" y="4581144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2024-02-28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914400"/>
            <a:ext cx="42062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663440" y="914400"/>
            <a:ext cx="4206240" cy="54864"/>
          </a:xfrm>
          <a:prstGeom prst="rect">
            <a:avLst/>
          </a:prstGeom>
          <a:solidFill>
            <a:srgbClr val="8B4A00"/>
          </a:solidFill>
          <a:ln w="12700">
            <a:solidFill>
              <a:srgbClr val="8B4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46320" y="10241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 Elasticity Analysis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46320" y="14630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Per-item log-log OLS regression. Coefficient = elasticity directly.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2011680"/>
            <a:ext cx="3840480" cy="1115568"/>
          </a:xfrm>
          <a:prstGeom prst="rect">
            <a:avLst/>
          </a:prstGeom>
          <a:solidFill>
            <a:srgbClr val="E8F5EE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983480" y="210312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6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Elastic Items Detected  (All items inelastic)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983480" y="2432304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items show |elasticity| &gt; 1. Consistent with premium/luxury positioning customers are price-insensitive. This validates brand strength and pricing power.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46320" y="3310128"/>
            <a:ext cx="3840480" cy="1115568"/>
          </a:xfrm>
          <a:prstGeom prst="rect">
            <a:avLst/>
          </a:prstGeom>
          <a:solidFill>
            <a:srgbClr val="E6F3F3"/>
          </a:solidFill>
          <a:ln w="12700">
            <a:solidFill>
              <a:srgbClr val="0D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983480" y="340156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Items Appear Inelastic  (|elasticity| &lt; 1)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983480" y="3730752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is stable despite price increases. Prime candidates for margin expansion. Important caveat: limited price variation in dataset validate with price experiment in production.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Impact &amp; CFO Advisory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0" y="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1965960" cy="10058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914400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52.6%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389888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improvement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baseline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50592" y="868680"/>
            <a:ext cx="1965960" cy="10058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42032" y="914400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10-15%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542032" y="1389888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cost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potential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26864" y="868680"/>
            <a:ext cx="1965960" cy="10058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18304" y="914400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 days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718304" y="1389888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visibility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finance planning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03136" y="868680"/>
            <a:ext cx="1965960" cy="10058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94576" y="914400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+5.9/day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894576" y="1389888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daily growth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confirmed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011680"/>
            <a:ext cx="41148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4320" y="2011680"/>
            <a:ext cx="4114800" cy="54864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2121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6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Opportunities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2578608"/>
            <a:ext cx="164592" cy="164592"/>
          </a:xfrm>
          <a:prstGeom prst="rect">
            <a:avLst/>
          </a:prstGeom>
          <a:solidFill>
            <a:srgbClr val="E8F5EE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257860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4944" y="256032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Model-driven reorder triggers cut excess inventory 10-15%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072384"/>
            <a:ext cx="164592" cy="164592"/>
          </a:xfrm>
          <a:prstGeom prst="rect">
            <a:avLst/>
          </a:prstGeom>
          <a:solidFill>
            <a:srgbClr val="E8F5EE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3072384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94944" y="3054096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 map protect margin on inelastic luxury items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566160"/>
            <a:ext cx="164592" cy="164592"/>
          </a:xfrm>
          <a:prstGeom prst="rect">
            <a:avLst/>
          </a:prstGeom>
          <a:solidFill>
            <a:srgbClr val="E8F5EE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" y="356616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94944" y="354787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 promo budget in Feb-May for maximum ROI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059936"/>
            <a:ext cx="164592" cy="164592"/>
          </a:xfrm>
          <a:prstGeom prst="rect">
            <a:avLst/>
          </a:prstGeom>
          <a:solidFill>
            <a:srgbClr val="E8F5EE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7200" y="4059936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94944" y="404164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+5.9 units/day growth supports confident revenue projections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2011680"/>
            <a:ext cx="42062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663440" y="2011680"/>
            <a:ext cx="420624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46320" y="21214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Risks to Monitor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846320" y="2578608"/>
            <a:ext cx="164592" cy="164592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46320" y="257860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84064" y="256032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degrades under macro shocks inflation, demand slowdown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46320" y="3072384"/>
            <a:ext cx="164592" cy="164592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846320" y="3072384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084064" y="305409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product cold start zero lag history for new season items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46320" y="3566160"/>
            <a:ext cx="164592" cy="164592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846320" y="356616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084064" y="354787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promo assumptions planned campaigns need injecting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46320" y="4059936"/>
            <a:ext cx="164592" cy="164592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846320" y="4059936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084064" y="404164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peak missing February pre-positioning causes stock-outs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 &amp;</a:t>
            </a:r>
            <a:endParaRPr lang="en-US" sz="2600" dirty="0"/>
          </a:p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82296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the Data Science Team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Hierarchical forecasting reconcile item to category to company totals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81635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Add external signals: fashion-week calendars, social trends, competitor pricing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320954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Temporal Fusion Transformer (TFT) for long-horizon uncertainty quantification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360273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Weekly automated retraining pipeline with drift detection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9959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A/B test promotional recommendations vs analyst judgment in production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457200"/>
            <a:ext cx="4114800" cy="4389120"/>
          </a:xfrm>
          <a:prstGeom prst="rect">
            <a:avLst/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457200"/>
            <a:ext cx="4114800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37760" y="65836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1143000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delivers 52.6% MAPE improvement over same-day-last-year baseline. The single annual spring peak (May-Jun) and the promotional effectiveness window (Feb-May widest gap) are the two most actionable insights for FARFETCH's finance and merchandising teams.</a:t>
            </a:r>
            <a:endParaRPr lang="en-US" sz="1100" dirty="0"/>
          </a:p>
          <a:p>
            <a:pPr marL="0" indent="0" algn="just">
              <a:buNone/>
            </a:pPr>
            <a:endParaRPr lang="en-US" sz="1100" dirty="0"/>
          </a:p>
          <a:p>
            <a:pPr marL="0" indent="0" algn="just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items appear inelastic consistent with luxury pricing power. Pre-positioning inventory by February and concentrating promotional spend in Feb-May are the two highest-ROI operational recommendations.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0" y="3520440"/>
            <a:ext cx="3749040" cy="2743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3639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Repository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395935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github.com/abhi28790-afk/FARFETCH_demand_forecasting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42519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Abhishek Singh Bhadouria  ·  6</a:t>
            </a:r>
            <a:r>
              <a:rPr lang="en-US" sz="1000" baseline="30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April 2026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818</Words>
  <Application>Microsoft Macintosh PowerPoint</Application>
  <PresentationFormat>On-screen Show (16:9)</PresentationFormat>
  <Paragraphs>129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FARFETCH — Demand Forecasting Executive Summary</dc:title>
  <dc:subject>PptxGenJS Presentation</dc:subject>
  <dc:creator>Abhisheak Singh</dc:creator>
  <cp:lastModifiedBy>Abhishek Singh Bhadouria</cp:lastModifiedBy>
  <cp:revision>2</cp:revision>
  <dcterms:created xsi:type="dcterms:W3CDTF">2026-04-06T02:20:31Z</dcterms:created>
  <dcterms:modified xsi:type="dcterms:W3CDTF">2026-04-06T02:28:59Z</dcterms:modified>
</cp:coreProperties>
</file>